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881" r:id="rId3"/>
  </p:sldIdLst>
  <p:sldSz cx="24384000" cy="13716000"/>
  <p:notesSz cx="6858000" cy="9144000"/>
  <p:custDataLst>
    <p:tags r:id="rId1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1pPr>
    <a:lvl2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2pPr>
    <a:lvl3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3pPr>
    <a:lvl4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4pPr>
    <a:lvl5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5pPr>
    <a:lvl6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6pPr>
    <a:lvl7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7pPr>
    <a:lvl8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8pPr>
    <a:lvl9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" panose="020B05040202020302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orest" initials="F" lastIdx="6" clrIdx="0"/>
  <p:cmAuthor id="1" name="刘 冲" initials="刘" lastIdx="10" clrIdx="0"/>
  <p:cmAuthor id="2" name="邱 海杰" initials="邱" lastIdx="1" clrIdx="1"/>
  <p:cmAuthor id="3" name="fafa" initials="f" lastIdx="2" clrIdx="1"/>
  <p:cmAuthor id="4" name="王习习" initials="王" lastIdx="2" clrIdx="0"/>
  <p:cmAuthor id="6" name="maofan" initials="m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550"/>
    <a:srgbClr val="26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1" d="100"/>
          <a:sy n="41" d="100"/>
        </p:scale>
        <p:origin x="285" y="69"/>
      </p:cViewPr>
      <p:guideLst>
        <p:guide orient="horz" pos="4320"/>
        <p:guide pos="7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sym typeface="Algerian" panose="04020705040A02060702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sym typeface="Algerian" panose="04020705040A02060702" charset="0"/>
              </a:rPr>
            </a:fld>
            <a:endParaRPr lang="zh-CN" altLang="en-US">
              <a:sym typeface="Algerian" panose="04020705040A0206070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sym typeface="Algerian" panose="04020705040A0206070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sym typeface="Algerian" panose="04020705040A02060702" charset="0"/>
              </a:rPr>
            </a:fld>
            <a:endParaRPr lang="zh-CN" altLang="en-US">
              <a:sym typeface="Algerian" panose="04020705040A0206070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Yu Gothic Medium" panose="020B0500000000000000" charset="-128"/>
        <a:ea typeface="Yu Gothic Medium" panose="020B0500000000000000" charset="-128"/>
        <a:cs typeface="Yu Gothic Medium" panose="020B0500000000000000" charset="-128"/>
        <a:sym typeface="Yu Gothic Medium" panose="020B0500000000000000" charset="-128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首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手册 拷贝.png" descr="手册 拷贝.png"/>
          <p:cNvPicPr>
            <a:picLocks noChangeAspect="1"/>
          </p:cNvPicPr>
          <p:nvPr userDrawn="1"/>
        </p:nvPicPr>
        <p:blipFill>
          <a:blip r:embed="rId2"/>
          <a:srcRect r="2564" b="2565"/>
          <a:stretch>
            <a:fillRect/>
          </a:stretch>
        </p:blipFill>
        <p:spPr>
          <a:xfrm>
            <a:off x="-4" y="-4"/>
            <a:ext cx="24384006" cy="1371600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48984" y="737320"/>
            <a:ext cx="2292295" cy="6767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素材01 拷贝.png" descr="素材01 拷贝.png"/>
          <p:cNvPicPr>
            <a:picLocks noChangeAspect="1"/>
          </p:cNvPicPr>
          <p:nvPr userDrawn="1"/>
        </p:nvPicPr>
        <p:blipFill>
          <a:blip r:embed="rId2">
            <a:alphaModFix amt="31648"/>
          </a:blip>
          <a:srcRect r="17729" b="17762"/>
          <a:stretch>
            <a:fillRect/>
          </a:stretch>
        </p:blipFill>
        <p:spPr>
          <a:xfrm>
            <a:off x="23494" y="17985"/>
            <a:ext cx="24384000" cy="1371050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48984" y="737320"/>
            <a:ext cx="2292295" cy="676715"/>
          </a:xfrm>
          <a:prstGeom prst="rect">
            <a:avLst/>
          </a:prstGeom>
        </p:spPr>
      </p:pic>
      <p:sp>
        <p:nvSpPr>
          <p:cNvPr id="1801" name="目录"/>
          <p:cNvSpPr txBox="1"/>
          <p:nvPr userDrawn="1"/>
        </p:nvSpPr>
        <p:spPr>
          <a:xfrm>
            <a:off x="1254729" y="1285750"/>
            <a:ext cx="1622045" cy="1092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5600" spc="336">
                <a:solidFill>
                  <a:srgbClr val="1B254D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t>目录</a:t>
            </a:r>
          </a:p>
        </p:txBody>
      </p:sp>
      <p:sp>
        <p:nvSpPr>
          <p:cNvPr id="1802" name="CONTENTS"/>
          <p:cNvSpPr txBox="1"/>
          <p:nvPr userDrawn="1"/>
        </p:nvSpPr>
        <p:spPr>
          <a:xfrm>
            <a:off x="1254726" y="2438929"/>
            <a:ext cx="3467101" cy="838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4800" b="1">
                <a:solidFill>
                  <a:srgbClr val="4689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CONTENTS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663940" y="4121785"/>
            <a:ext cx="5267960" cy="8539480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2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项目背景</a:t>
            </a: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 进度分析</a:t>
            </a: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 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 质量分析</a:t>
            </a: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算法效果</a:t>
            </a:r>
            <a:b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总结</a:t>
            </a: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hidden="1"/>
          <p:cNvSpPr txBox="1"/>
          <p:nvPr userDrawn="1"/>
        </p:nvSpPr>
        <p:spPr>
          <a:xfrm>
            <a:off x="12628880" y="5129530"/>
            <a:ext cx="12359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just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供货清单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+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技术协议说明（功能、算法），主要讲项目特殊性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" panose="020B0504020202030204"/>
            </a:endParaRPr>
          </a:p>
        </p:txBody>
      </p:sp>
      <p:sp>
        <p:nvSpPr>
          <p:cNvPr id="6" name="文本框 5" hidden="1"/>
          <p:cNvSpPr txBox="1"/>
          <p:nvPr userDrawn="1"/>
        </p:nvSpPr>
        <p:spPr>
          <a:xfrm>
            <a:off x="12628880" y="6425565"/>
            <a:ext cx="12359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just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原计划、实际情况，进度异常说明（什么原因导致、后续怎么避免）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" panose="020B0504020202030204"/>
            </a:endParaRPr>
          </a:p>
        </p:txBody>
      </p:sp>
      <p:sp>
        <p:nvSpPr>
          <p:cNvPr id="7" name="文本框 6" hidden="1"/>
          <p:cNvSpPr txBox="1"/>
          <p:nvPr userDrawn="1"/>
        </p:nvSpPr>
        <p:spPr>
          <a:xfrm>
            <a:off x="12628880" y="7649845"/>
            <a:ext cx="12359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just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设备、人天、报销）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——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超出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/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节约原因、后续怎么优化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" panose="020B0504020202030204"/>
            </a:endParaRPr>
          </a:p>
        </p:txBody>
      </p:sp>
      <p:sp>
        <p:nvSpPr>
          <p:cNvPr id="8" name="文本框 7" hidden="1"/>
          <p:cNvSpPr txBox="1"/>
          <p:nvPr userDrawn="1"/>
        </p:nvSpPr>
        <p:spPr>
          <a:xfrm>
            <a:off x="12628880" y="9090025"/>
            <a:ext cx="1235900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just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项目过程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/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504020202030204"/>
              </a:rPr>
              <a:t>验收问题说明（重点讲突出、典型的，原因、优化建议）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" panose="020B0504020202030204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背景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-4" y="-17196"/>
            <a:ext cx="24384009" cy="137502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76976" y="12186592"/>
            <a:ext cx="2292295" cy="676715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671830" y="450215"/>
            <a:ext cx="3691890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  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项目背景</a:t>
            </a:r>
            <a:endParaRPr kumimoji="0" lang="zh-CN" altLang="en-US" sz="4400" b="1" i="0" u="none" strike="noStrike" cap="none" spc="192" normalizeH="0" baseline="0">
              <a:ln>
                <a:noFill/>
              </a:ln>
              <a:solidFill>
                <a:srgbClr val="1B254D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1" hasCustomPrompt="1"/>
          </p:nvPr>
        </p:nvSpPr>
        <p:spPr>
          <a:xfrm>
            <a:off x="1967865" y="2681605"/>
            <a:ext cx="9719945" cy="824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1028700" indent="-571500">
              <a:buFont typeface="Arial" panose="02080604020202020204" pitchFamily="34" charset="0"/>
              <a:buChar char="•"/>
              <a:defRPr>
                <a:ea typeface="宋体" pitchFamily="2" charset="-122"/>
              </a:defRPr>
            </a:lvl2pPr>
          </a:lstStyle>
          <a:p>
            <a:pPr lvl="0"/>
            <a:r>
              <a:rPr lang="zh-CN" altLang="en-US" smtClean="0"/>
              <a:t>项目内容：供货清单及技术协议说明（功能、算法），主要讲项目特殊性</a:t>
            </a:r>
            <a:endParaRPr lang="zh-CN" altLang="en-US" smtClean="0"/>
          </a:p>
          <a:p>
            <a:pPr lvl="0"/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3" hasCustomPrompt="1"/>
          </p:nvPr>
        </p:nvSpPr>
        <p:spPr>
          <a:xfrm>
            <a:off x="14667865" y="7433945"/>
            <a:ext cx="6309360" cy="35439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项目特殊性图片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0" name="图片占位符 9"/>
          <p:cNvSpPr>
            <a:spLocks noGrp="1"/>
          </p:cNvSpPr>
          <p:nvPr>
            <p:ph type="pic" idx="14" hasCustomPrompt="1"/>
          </p:nvPr>
        </p:nvSpPr>
        <p:spPr>
          <a:xfrm>
            <a:off x="14625320" y="2682240"/>
            <a:ext cx="6367145" cy="3875405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0" marR="0" indent="0" algn="l" defTabSz="1828800" rtl="0" eaLnBrk="1" fontAlgn="auto" latinLnBrk="0" hangingPunct="1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kumimoji="0" lang="zh-CN" altLang="en-US" sz="2800" b="0" i="0" u="none" strike="noStrike" kern="0" cap="none" spc="300" normalizeH="0" baseline="0" noProof="1">
                <a:solidFill>
                  <a:srgbClr val="595959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>
                <a:sym typeface="+mn-ea"/>
              </a:rPr>
              <a:t>项目特殊性图片</a:t>
            </a:r>
            <a:r>
              <a:rPr>
                <a:sym typeface="+mn-ea"/>
              </a:rPr>
              <a:t>1</a:t>
            </a:r>
            <a:endParaRPr>
              <a:sym typeface="+mn-ea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进度分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-4" y="-17196"/>
            <a:ext cx="24384009" cy="137502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 userDrawn="1"/>
        </p:nvSpPr>
        <p:spPr>
          <a:xfrm>
            <a:off x="671830" y="450215"/>
            <a:ext cx="3691890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进度分析</a:t>
            </a:r>
            <a:endParaRPr kumimoji="0" lang="zh-CN" altLang="en-US" sz="4400" b="1" i="0" u="none" strike="noStrike" cap="none" spc="192" normalizeH="0" baseline="0">
              <a:ln>
                <a:noFill/>
              </a:ln>
              <a:solidFill>
                <a:srgbClr val="1B254D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51" name="技术架构"/>
          <p:cNvSpPr txBox="1"/>
          <p:nvPr userDrawn="1"/>
        </p:nvSpPr>
        <p:spPr>
          <a:xfrm>
            <a:off x="1278573" y="2717165"/>
            <a:ext cx="2085975" cy="5937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  <a:scene3d>
              <a:camera prst="orthographicFront"/>
              <a:lightRig rig="threePt" dir="t"/>
            </a:scene3d>
          </a:bodyPr>
          <a:lstStyle>
            <a:lvl1pPr defTabSz="1219200">
              <a:defRPr sz="2600" b="1" spc="156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/>
            <a:r>
              <a:rPr 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计划时间</a:t>
            </a:r>
            <a:endParaRPr lang="zh-CN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4" name="技术架构"/>
          <p:cNvSpPr txBox="1"/>
          <p:nvPr userDrawn="1"/>
        </p:nvSpPr>
        <p:spPr>
          <a:xfrm>
            <a:off x="1278573" y="3623152"/>
            <a:ext cx="2085975" cy="5937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  <a:scene3d>
              <a:camera prst="orthographicFront"/>
              <a:lightRig rig="threePt" dir="t"/>
            </a:scene3d>
          </a:bodyPr>
          <a:lstStyle>
            <a:lvl1pPr defTabSz="1219200">
              <a:defRPr sz="2600" b="1" spc="156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/>
            <a:r>
              <a:rPr 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实际时间</a:t>
            </a:r>
            <a:endParaRPr lang="zh-CN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5" name="燕尾形 4"/>
          <p:cNvSpPr/>
          <p:nvPr userDrawn="1"/>
        </p:nvSpPr>
        <p:spPr>
          <a:xfrm>
            <a:off x="3910330" y="1534160"/>
            <a:ext cx="5122545" cy="77216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3600" b="1" dirty="0">
                <a:solidFill>
                  <a:schemeClr val="bg1"/>
                </a:solidFill>
                <a:sym typeface="+mn-ea"/>
              </a:rPr>
              <a:t>到货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6" name="燕尾形 5"/>
          <p:cNvSpPr/>
          <p:nvPr userDrawn="1"/>
        </p:nvSpPr>
        <p:spPr>
          <a:xfrm>
            <a:off x="8806815" y="1534160"/>
            <a:ext cx="5122545" cy="772160"/>
          </a:xfrm>
          <a:prstGeom prst="chevron">
            <a:avLst/>
          </a:prstGeom>
          <a:solidFill>
            <a:srgbClr val="4AB5F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3600" b="1" dirty="0">
                <a:solidFill>
                  <a:schemeClr val="bg1"/>
                </a:solidFill>
                <a:sym typeface="+mn-ea"/>
              </a:rPr>
              <a:t>部署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7" name="燕尾形 6"/>
          <p:cNvSpPr/>
          <p:nvPr userDrawn="1"/>
        </p:nvSpPr>
        <p:spPr>
          <a:xfrm>
            <a:off x="13703300" y="1534160"/>
            <a:ext cx="5122545" cy="772160"/>
          </a:xfrm>
          <a:prstGeom prst="chevron">
            <a:avLst/>
          </a:prstGeom>
          <a:solidFill>
            <a:srgbClr val="55A5EF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3600" b="1" dirty="0">
                <a:solidFill>
                  <a:schemeClr val="bg1"/>
                </a:solidFill>
                <a:sym typeface="+mn-ea"/>
              </a:rPr>
              <a:t>调试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8" name="燕尾形 7"/>
          <p:cNvSpPr/>
          <p:nvPr userDrawn="1"/>
        </p:nvSpPr>
        <p:spPr>
          <a:xfrm>
            <a:off x="18599785" y="1534160"/>
            <a:ext cx="5122545" cy="772160"/>
          </a:xfrm>
          <a:prstGeom prst="chevron">
            <a:avLst/>
          </a:prstGeom>
          <a:solidFill>
            <a:schemeClr val="accent1">
              <a:lumMod val="7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>
                <a:solidFill>
                  <a:schemeClr val="bg1"/>
                </a:solidFill>
                <a:sym typeface="+mn-ea"/>
              </a:rPr>
              <a:t>验</a:t>
            </a:r>
            <a:r>
              <a:rPr lang="zh-CN" sz="3600" b="1" dirty="0">
                <a:solidFill>
                  <a:schemeClr val="bg1"/>
                </a:solidFill>
                <a:sym typeface="+mn-ea"/>
              </a:rPr>
              <a:t>收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0" hasCustomPrompt="1"/>
          </p:nvPr>
        </p:nvSpPr>
        <p:spPr>
          <a:xfrm>
            <a:off x="4844415" y="2771775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计划到货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3" hasCustomPrompt="1"/>
          </p:nvPr>
        </p:nvSpPr>
        <p:spPr>
          <a:xfrm>
            <a:off x="4844415" y="3677762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实际到货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</p:nvPr>
        </p:nvSpPr>
        <p:spPr>
          <a:xfrm>
            <a:off x="9672320" y="2771775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计划部署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5" hasCustomPrompt="1"/>
          </p:nvPr>
        </p:nvSpPr>
        <p:spPr>
          <a:xfrm>
            <a:off x="9672320" y="3677762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实际</a:t>
            </a:r>
            <a:r>
              <a:rPr lang="zh-CN" altLang="en-US" smtClean="0">
                <a:sym typeface="+mn-ea"/>
              </a:rPr>
              <a:t>部署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 hasCustomPrompt="1"/>
          </p:nvPr>
        </p:nvSpPr>
        <p:spPr>
          <a:xfrm>
            <a:off x="14711680" y="2771775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计划调试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7" hasCustomPrompt="1"/>
          </p:nvPr>
        </p:nvSpPr>
        <p:spPr>
          <a:xfrm>
            <a:off x="14711680" y="3677762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实际</a:t>
            </a:r>
            <a:r>
              <a:rPr lang="zh-CN" altLang="en-US" smtClean="0">
                <a:sym typeface="+mn-ea"/>
              </a:rPr>
              <a:t>调试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8" hasCustomPrompt="1"/>
          </p:nvPr>
        </p:nvSpPr>
        <p:spPr>
          <a:xfrm>
            <a:off x="19558000" y="2771775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计划验收</a:t>
            </a:r>
            <a:endParaRPr lang="zh-CN" altLang="en-US" smtClean="0"/>
          </a:p>
        </p:txBody>
      </p:sp>
      <p:sp>
        <p:nvSpPr>
          <p:cNvPr id="41" name="文本占位符 40"/>
          <p:cNvSpPr>
            <a:spLocks noGrp="1"/>
          </p:cNvSpPr>
          <p:nvPr>
            <p:ph type="body" idx="19" hasCustomPrompt="1"/>
          </p:nvPr>
        </p:nvSpPr>
        <p:spPr>
          <a:xfrm>
            <a:off x="19558000" y="3677762"/>
            <a:ext cx="3206115" cy="484505"/>
          </a:xfrm>
          <a:prstGeom prst="rect">
            <a:avLst/>
          </a:prstGeo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实际验收</a:t>
            </a:r>
            <a:endParaRPr lang="zh-CN" altLang="en-US" smtClean="0"/>
          </a:p>
        </p:txBody>
      </p:sp>
      <p:sp>
        <p:nvSpPr>
          <p:cNvPr id="68" name="文本框 67"/>
          <p:cNvSpPr txBox="1"/>
          <p:nvPr userDrawn="1"/>
        </p:nvSpPr>
        <p:spPr>
          <a:xfrm>
            <a:off x="671830" y="4842510"/>
            <a:ext cx="359029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gradFill>
                  <a:gsLst>
                    <a:gs pos="10000">
                      <a:srgbClr val="182550"/>
                    </a:gs>
                    <a:gs pos="100000">
                      <a:srgbClr val="B5B8C2"/>
                    </a:gs>
                  </a:gsLst>
                  <a:lin ang="16200000" scaled="1"/>
                </a:gradFill>
                <a:latin typeface="微软雅黑" panose="020B0503020204020204" charset="-122"/>
                <a:ea typeface="微软雅黑" panose="020B0503020204020204" charset="-122"/>
                <a:sym typeface="Helvetica" panose="020B0504020202030204"/>
              </a:rPr>
              <a:t>原因分析</a:t>
            </a:r>
            <a:endParaRPr kumimoji="0" lang="zh-CN" altLang="en-US" sz="4000" b="1" i="0" u="none" strike="noStrike" cap="none" spc="0" normalizeH="0" baseline="0">
              <a:ln>
                <a:noFill/>
              </a:ln>
              <a:gradFill>
                <a:gsLst>
                  <a:gs pos="10000">
                    <a:srgbClr val="182550"/>
                  </a:gs>
                  <a:gs pos="100000">
                    <a:srgbClr val="B5B8C2"/>
                  </a:gs>
                </a:gsLst>
                <a:lin ang="16200000" scaled="1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Helvetica" panose="020B0504020202030204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idx="20" hasCustomPrompt="1"/>
          </p:nvPr>
        </p:nvSpPr>
        <p:spPr>
          <a:xfrm>
            <a:off x="1247775" y="6066155"/>
            <a:ext cx="8720455" cy="6690360"/>
          </a:xfrm>
          <a:prstGeom prst="rect">
            <a:avLst/>
          </a:prstGeom>
        </p:spPr>
        <p:txBody>
          <a:bodyPr/>
          <a:p>
            <a:pPr lvl="0"/>
            <a:r>
              <a:rPr lang="zh-CN" altLang="en-US" smtClean="0"/>
              <a:t>按类别列原因</a:t>
            </a:r>
            <a:endParaRPr lang="zh-CN" altLang="en-US" smtClean="0"/>
          </a:p>
        </p:txBody>
      </p:sp>
      <p:sp>
        <p:nvSpPr>
          <p:cNvPr id="43" name="文本框 42"/>
          <p:cNvSpPr txBox="1"/>
          <p:nvPr userDrawn="1"/>
        </p:nvSpPr>
        <p:spPr>
          <a:xfrm>
            <a:off x="11400155" y="4986020"/>
            <a:ext cx="359029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gradFill>
                  <a:gsLst>
                    <a:gs pos="10000">
                      <a:srgbClr val="182550"/>
                    </a:gs>
                    <a:gs pos="100000">
                      <a:srgbClr val="B5B8C2"/>
                    </a:gs>
                  </a:gsLst>
                  <a:lin ang="16200000" scaled="1"/>
                </a:gra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 panose="020B0504020202030204"/>
              </a:rPr>
              <a:t>改进措施</a:t>
            </a:r>
            <a:endParaRPr kumimoji="0" lang="zh-CN" altLang="en-US" sz="4000" b="1" i="0" u="none" strike="noStrike" cap="none" spc="0" normalizeH="0" baseline="0">
              <a:ln>
                <a:noFill/>
              </a:ln>
              <a:gradFill>
                <a:gsLst>
                  <a:gs pos="10000">
                    <a:srgbClr val="182550"/>
                  </a:gs>
                  <a:gs pos="100000">
                    <a:srgbClr val="B5B8C2"/>
                  </a:gs>
                </a:gsLst>
                <a:lin ang="16200000" scaled="1"/>
              </a:gra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Helvetica" panose="020B0504020202030204"/>
            </a:endParaRPr>
          </a:p>
        </p:txBody>
      </p:sp>
      <p:sp>
        <p:nvSpPr>
          <p:cNvPr id="44" name="文本占位符 43"/>
          <p:cNvSpPr>
            <a:spLocks noGrp="1"/>
          </p:cNvSpPr>
          <p:nvPr>
            <p:ph type="body" idx="21" hasCustomPrompt="1"/>
          </p:nvPr>
        </p:nvSpPr>
        <p:spPr>
          <a:xfrm>
            <a:off x="12120245" y="6047105"/>
            <a:ext cx="8720455" cy="6690360"/>
          </a:xfrm>
          <a:prstGeom prst="rect">
            <a:avLst/>
          </a:prstGeom>
        </p:spPr>
        <p:txBody>
          <a:bodyPr/>
          <a:p>
            <a:pPr lvl="0"/>
            <a:r>
              <a:rPr lang="zh-CN" altLang="en-US" smtClean="0"/>
              <a:t>按类别列</a:t>
            </a:r>
            <a:endParaRPr lang="zh-CN" altLang="en-US" smtClean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76976" y="12186592"/>
            <a:ext cx="2292295" cy="6767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成本分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-4" y="-17196"/>
            <a:ext cx="24384009" cy="137502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 userDrawn="1"/>
        </p:nvSpPr>
        <p:spPr>
          <a:xfrm>
            <a:off x="671830" y="450215"/>
            <a:ext cx="3691890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成本分析</a:t>
            </a:r>
            <a:endParaRPr kumimoji="0" lang="zh-CN" altLang="en-US" sz="4400" b="1" i="0" u="none" strike="noStrike" cap="none" spc="192" normalizeH="0" baseline="0">
              <a:ln>
                <a:noFill/>
              </a:ln>
              <a:solidFill>
                <a:srgbClr val="1B254D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图表占位符 4"/>
          <p:cNvSpPr>
            <a:spLocks noGrp="1"/>
          </p:cNvSpPr>
          <p:nvPr>
            <p:ph type="chart" idx="10" hasCustomPrompt="1"/>
          </p:nvPr>
        </p:nvSpPr>
        <p:spPr>
          <a:xfrm>
            <a:off x="960120" y="1745615"/>
            <a:ext cx="4297680" cy="240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插入</a:t>
            </a:r>
            <a:r>
              <a:rPr lang="en-US" altLang="zh-CN"/>
              <a:t>”</a:t>
            </a:r>
            <a:r>
              <a:rPr lang="zh-CN" altLang="en-US"/>
              <a:t>概算成本，预算成本，决算金额</a:t>
            </a:r>
            <a:r>
              <a:rPr lang="en-US" altLang="zh-CN"/>
              <a:t>“</a:t>
            </a:r>
            <a:r>
              <a:rPr lang="zh-CN" altLang="en-US"/>
              <a:t>比对图表</a:t>
            </a:r>
            <a:endParaRPr lang="zh-CN" altLang="en-US"/>
          </a:p>
        </p:txBody>
      </p:sp>
      <p:sp>
        <p:nvSpPr>
          <p:cNvPr id="42" name="文本占位符 41"/>
          <p:cNvSpPr>
            <a:spLocks noGrp="1"/>
          </p:cNvSpPr>
          <p:nvPr>
            <p:ph type="body" idx="20" hasCustomPrompt="1"/>
          </p:nvPr>
        </p:nvSpPr>
        <p:spPr>
          <a:xfrm>
            <a:off x="1247775" y="6066155"/>
            <a:ext cx="8720455" cy="6690360"/>
          </a:xfrm>
          <a:prstGeom prst="rect">
            <a:avLst/>
          </a:prstGeom>
        </p:spPr>
        <p:txBody>
          <a:bodyPr/>
          <a:p>
            <a:pPr lvl="0"/>
            <a:r>
              <a:rPr lang="zh-CN" altLang="en-US" smtClean="0"/>
              <a:t>按类别列原因</a:t>
            </a:r>
            <a:endParaRPr lang="zh-CN" altLang="en-US" smtClean="0"/>
          </a:p>
        </p:txBody>
      </p:sp>
      <p:sp>
        <p:nvSpPr>
          <p:cNvPr id="44" name="文本占位符 43"/>
          <p:cNvSpPr>
            <a:spLocks noGrp="1"/>
          </p:cNvSpPr>
          <p:nvPr>
            <p:ph type="body" idx="21" hasCustomPrompt="1"/>
          </p:nvPr>
        </p:nvSpPr>
        <p:spPr>
          <a:xfrm>
            <a:off x="12120245" y="6047105"/>
            <a:ext cx="8720455" cy="6690360"/>
          </a:xfrm>
          <a:prstGeom prst="rect">
            <a:avLst/>
          </a:prstGeom>
        </p:spPr>
        <p:txBody>
          <a:bodyPr/>
          <a:p>
            <a:pPr lvl="0"/>
            <a:r>
              <a:rPr lang="zh-CN" altLang="en-US" smtClean="0"/>
              <a:t>按类别列</a:t>
            </a:r>
            <a:endParaRPr lang="zh-CN" altLang="en-US" smtClean="0"/>
          </a:p>
        </p:txBody>
      </p:sp>
      <p:sp>
        <p:nvSpPr>
          <p:cNvPr id="10" name="图表占位符 9"/>
          <p:cNvSpPr>
            <a:spLocks noGrp="1"/>
          </p:cNvSpPr>
          <p:nvPr>
            <p:ph type="chart" idx="22" hasCustomPrompt="1"/>
          </p:nvPr>
        </p:nvSpPr>
        <p:spPr>
          <a:xfrm>
            <a:off x="6720205" y="1745615"/>
            <a:ext cx="4297680" cy="240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设备</a:t>
            </a:r>
            <a:r>
              <a:rPr lang="zh-CN" altLang="en-US">
                <a:sym typeface="+mn-ea"/>
              </a:rPr>
              <a:t>成本对比</a:t>
            </a:r>
            <a:r>
              <a:rPr lang="zh-CN" altLang="en-US"/>
              <a:t>，可用堆积条形图</a:t>
            </a:r>
            <a:endParaRPr lang="zh-CN" altLang="en-US"/>
          </a:p>
        </p:txBody>
      </p:sp>
      <p:sp>
        <p:nvSpPr>
          <p:cNvPr id="11" name="图表占位符 10"/>
          <p:cNvSpPr>
            <a:spLocks noGrp="1"/>
          </p:cNvSpPr>
          <p:nvPr>
            <p:ph type="chart" idx="23" hasCustomPrompt="1"/>
          </p:nvPr>
        </p:nvSpPr>
        <p:spPr>
          <a:xfrm>
            <a:off x="12480290" y="1745615"/>
            <a:ext cx="4297680" cy="240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sym typeface="+mn-ea"/>
              </a:rPr>
              <a:t>人天</a:t>
            </a:r>
            <a:r>
              <a:rPr lang="zh-CN" altLang="en-US">
                <a:sym typeface="+mn-ea"/>
              </a:rPr>
              <a:t>成本对比</a:t>
            </a:r>
            <a:r>
              <a:rPr lang="zh-CN" altLang="en-US">
                <a:sym typeface="+mn-ea"/>
              </a:rPr>
              <a:t>，可用堆积条形图</a:t>
            </a:r>
            <a:endParaRPr lang="zh-CN" altLang="en-US"/>
          </a:p>
        </p:txBody>
      </p:sp>
      <p:sp>
        <p:nvSpPr>
          <p:cNvPr id="12" name="图表占位符 11"/>
          <p:cNvSpPr>
            <a:spLocks noGrp="1"/>
          </p:cNvSpPr>
          <p:nvPr>
            <p:ph type="chart" idx="24" hasCustomPrompt="1"/>
          </p:nvPr>
        </p:nvSpPr>
        <p:spPr>
          <a:xfrm>
            <a:off x="18240375" y="1745615"/>
            <a:ext cx="4297680" cy="240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sym typeface="+mn-ea"/>
              </a:rPr>
              <a:t>费用成本对比，可用堆积条形图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76976" y="12186592"/>
            <a:ext cx="2292295" cy="6767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质量分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-4" y="-17196"/>
            <a:ext cx="24384009" cy="137502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 userDrawn="1"/>
        </p:nvSpPr>
        <p:spPr>
          <a:xfrm>
            <a:off x="671830" y="450215"/>
            <a:ext cx="3691890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质量分析</a:t>
            </a:r>
            <a:endParaRPr kumimoji="0" lang="zh-CN" altLang="en-US" sz="4400" b="1" i="0" u="none" strike="noStrike" cap="none" spc="192" normalizeH="0" baseline="0">
              <a:ln>
                <a:noFill/>
              </a:ln>
              <a:solidFill>
                <a:srgbClr val="1B254D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76976" y="12186592"/>
            <a:ext cx="2292295" cy="6767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总结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95881" y="-34341"/>
            <a:ext cx="24384009" cy="137502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 userDrawn="1"/>
        </p:nvSpPr>
        <p:spPr>
          <a:xfrm>
            <a:off x="671830" y="450215"/>
            <a:ext cx="3691890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算法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</a:t>
            </a:r>
            <a:endParaRPr lang="zh-CN" altLang="en-US" sz="4400" b="1" spc="192">
              <a:solidFill>
                <a:srgbClr val="1B25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76976" y="12186592"/>
            <a:ext cx="2292295" cy="6767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总结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95881" y="-34341"/>
            <a:ext cx="24384009" cy="137502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 userDrawn="1"/>
        </p:nvSpPr>
        <p:spPr>
          <a:xfrm>
            <a:off x="671830" y="450215"/>
            <a:ext cx="3691890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总结</a:t>
            </a:r>
            <a:endParaRPr kumimoji="0" lang="zh-CN" altLang="en-US" sz="4400" b="1" i="0" u="none" strike="noStrike" cap="none" spc="192" normalizeH="0" baseline="0">
              <a:ln>
                <a:noFill/>
              </a:ln>
              <a:solidFill>
                <a:srgbClr val="1B254D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76976" y="12186592"/>
            <a:ext cx="2292295" cy="676715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0" hasCustomPrompt="1"/>
          </p:nvPr>
        </p:nvSpPr>
        <p:spPr>
          <a:xfrm>
            <a:off x="1608455" y="3041650"/>
            <a:ext cx="10831830" cy="4923155"/>
          </a:xfrm>
          <a:prstGeom prst="rect">
            <a:avLst/>
          </a:prstGeom>
        </p:spPr>
        <p:txBody>
          <a:bodyPr/>
          <a:p>
            <a:pPr lvl="0"/>
            <a:r>
              <a:rPr lang="zh-CN" altLang="en-US" smtClean="0"/>
              <a:t>按各部门提出问题，总结建议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财务看板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3.png" descr="image3.png"/>
          <p:cNvPicPr>
            <a:picLocks noChangeAspect="1"/>
          </p:cNvPicPr>
          <p:nvPr userDrawn="1"/>
        </p:nvPicPr>
        <p:blipFill>
          <a:blip r:embed="rId2">
            <a:alphaModFix amt="24141"/>
          </a:blip>
          <a:srcRect l="14" r="32784" b="32630"/>
          <a:stretch>
            <a:fillRect/>
          </a:stretch>
        </p:blipFill>
        <p:spPr>
          <a:xfrm>
            <a:off x="-26035" y="-53975"/>
            <a:ext cx="24505920" cy="137502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 userDrawn="1"/>
        </p:nvSpPr>
        <p:spPr>
          <a:xfrm>
            <a:off x="653415" y="450215"/>
            <a:ext cx="3710305" cy="9588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en-US" altLang="zh-CN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4400" b="1" spc="192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财务看板</a:t>
            </a:r>
            <a:endParaRPr kumimoji="0" lang="zh-CN" altLang="en-US" sz="4400" b="1" i="0" u="none" strike="noStrike" cap="none" spc="192" normalizeH="0" baseline="0">
              <a:ln>
                <a:noFill/>
              </a:ln>
              <a:solidFill>
                <a:srgbClr val="1B254D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65795" y="12186285"/>
            <a:ext cx="2303780" cy="67691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idx="10" hasCustomPrompt="1"/>
          </p:nvPr>
        </p:nvSpPr>
        <p:spPr>
          <a:xfrm>
            <a:off x="2003425" y="2682240"/>
            <a:ext cx="7454900" cy="3802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插入项目决算看板图片</a:t>
            </a:r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3" hasCustomPrompt="1"/>
          </p:nvPr>
        </p:nvSpPr>
        <p:spPr>
          <a:xfrm>
            <a:off x="10931525" y="2682240"/>
            <a:ext cx="7454900" cy="3802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插入项目决算看板图片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4" hasCustomPrompt="1"/>
          </p:nvPr>
        </p:nvSpPr>
        <p:spPr>
          <a:xfrm>
            <a:off x="10931525" y="7506335"/>
            <a:ext cx="7454900" cy="3802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插入项目决算看板图片</a:t>
            </a:r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idx="16" hasCustomPrompt="1"/>
          </p:nvPr>
        </p:nvSpPr>
        <p:spPr>
          <a:xfrm>
            <a:off x="2075180" y="7506335"/>
            <a:ext cx="7454900" cy="3802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插入项目决算看板图片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7" hasCustomPrompt="1"/>
          </p:nvPr>
        </p:nvSpPr>
        <p:spPr>
          <a:xfrm>
            <a:off x="20278725" y="570230"/>
            <a:ext cx="2739390" cy="211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附件：</a:t>
            </a:r>
            <a:endParaRPr lang="zh-CN" altLang="en-US" smtClean="0"/>
          </a:p>
          <a:p>
            <a:pPr lvl="0"/>
            <a:r>
              <a:rPr lang="zh-CN" altLang="en-US" smtClean="0"/>
              <a:t>财务看板文件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尾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" y="12699"/>
            <a:ext cx="24384005" cy="13716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48984" y="737320"/>
            <a:ext cx="2292295" cy="676715"/>
          </a:xfrm>
          <a:prstGeom prst="rect">
            <a:avLst/>
          </a:prstGeom>
        </p:spPr>
      </p:pic>
      <p:pic>
        <p:nvPicPr>
          <p:cNvPr id="2000" name="图像" descr="图像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045881" y="6664457"/>
            <a:ext cx="2287082" cy="228709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01" name="扫一扫关注更多资讯"/>
          <p:cNvSpPr txBox="1"/>
          <p:nvPr userDrawn="1"/>
        </p:nvSpPr>
        <p:spPr>
          <a:xfrm>
            <a:off x="15920690" y="9161793"/>
            <a:ext cx="2549416" cy="4103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2000" b="1" spc="12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Arial" panose="02080604020202020204" pitchFamily="34" charset="0"/>
                <a:ea typeface="微软雅黑" panose="020B0503020204020204" charset="-122"/>
                <a:sym typeface="Arial" panose="02080604020202020204" pitchFamily="34" charset="0"/>
              </a:rPr>
              <a:t>扫一扫关注更多资讯</a:t>
            </a:r>
            <a:endParaRPr>
              <a:latin typeface="Arial" panose="02080604020202020204" pitchFamily="34" charset="0"/>
              <a:ea typeface="微软雅黑" panose="020B0503020204020204" charset="-122"/>
              <a:sym typeface="Arial" panose="02080604020202020204" pitchFamily="34" charset="0"/>
            </a:endParaRPr>
          </a:p>
        </p:txBody>
      </p:sp>
      <p:sp>
        <p:nvSpPr>
          <p:cNvPr id="2002" name="边缘计算"/>
          <p:cNvSpPr txBox="1"/>
          <p:nvPr userDrawn="1"/>
        </p:nvSpPr>
        <p:spPr>
          <a:xfrm>
            <a:off x="2759661" y="5401389"/>
            <a:ext cx="4452501" cy="133369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8000" b="1" spc="480">
                <a:solidFill>
                  <a:srgbClr val="1B25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Arial" panose="02080604020202020204" pitchFamily="34" charset="0"/>
                <a:ea typeface="微软雅黑" panose="020B0503020204020204" charset="-122"/>
                <a:sym typeface="Arial" panose="02080604020202020204" pitchFamily="34" charset="0"/>
              </a:rPr>
              <a:t>边缘计算</a:t>
            </a:r>
            <a:endParaRPr>
              <a:latin typeface="Arial" panose="02080604020202020204" pitchFamily="34" charset="0"/>
              <a:ea typeface="微软雅黑" panose="020B0503020204020204" charset="-122"/>
              <a:sym typeface="Arial" panose="02080604020202020204" pitchFamily="34" charset="0"/>
            </a:endParaRPr>
          </a:p>
        </p:txBody>
      </p:sp>
      <p:sp>
        <p:nvSpPr>
          <p:cNvPr id="2003" name="解决智慧工业的最后一公里"/>
          <p:cNvSpPr txBox="1"/>
          <p:nvPr userDrawn="1"/>
        </p:nvSpPr>
        <p:spPr>
          <a:xfrm>
            <a:off x="2759655" y="7122016"/>
            <a:ext cx="5322483" cy="5950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3200" spc="192">
                <a:solidFill>
                  <a:srgbClr val="4689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Arial" panose="02080604020202020204" pitchFamily="34" charset="0"/>
                <a:ea typeface="微软雅黑" panose="020B0503020204020204" charset="-122"/>
                <a:sym typeface="Arial" panose="02080604020202020204" pitchFamily="34" charset="0"/>
              </a:rPr>
              <a:t>解决智慧工业的最后一公里</a:t>
            </a:r>
            <a:endParaRPr>
              <a:latin typeface="Arial" panose="02080604020202020204" pitchFamily="34" charset="0"/>
              <a:ea typeface="微软雅黑" panose="020B0503020204020204" charset="-122"/>
              <a:sym typeface="Arial" panose="02080604020202020204" pitchFamily="34" charset="0"/>
            </a:endParaRPr>
          </a:p>
        </p:txBody>
      </p:sp>
      <p:pic>
        <p:nvPicPr>
          <p:cNvPr id="2004" name="图像" descr="图像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180002" y="5235267"/>
            <a:ext cx="4018844" cy="103271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200" b="1" i="0" u="none" strike="noStrike" cap="none" spc="600" baseline="0">
          <a:solidFill>
            <a:srgbClr val="262626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lvl1pPr marL="457200" marR="0" indent="-45720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20204"/>
        <a:buChar char="●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971550" marR="0" indent="-51435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20204"/>
        <a:buChar char="●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1428750" marR="0" indent="-51435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20204"/>
        <a:buChar char="●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1959610" marR="0" indent="-58801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20204"/>
        <a:buChar char="•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2416810" marR="0" indent="-58801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00000"/>
        <a:buFont typeface="Arial" panose="020B0604020202020204"/>
        <a:buChar char="•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3505200" marR="0" indent="-45720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23000"/>
        <a:buFont typeface="Arial" panose="020B0604020202020204"/>
        <a:buChar char="•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4114800" marR="0" indent="-45720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23000"/>
        <a:buFont typeface="Arial" panose="020B0604020202020204"/>
        <a:buChar char="•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4724400" marR="0" indent="-45720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23000"/>
        <a:buFont typeface="Arial" panose="020B0604020202020204"/>
        <a:buChar char="•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5334000" marR="0" indent="-457200" algn="l" defTabSz="1828800" rtl="0" latinLnBrk="0">
        <a:lnSpc>
          <a:spcPct val="130000"/>
        </a:lnSpc>
        <a:spcBef>
          <a:spcPts val="2000"/>
        </a:spcBef>
        <a:spcAft>
          <a:spcPts val="0"/>
        </a:spcAft>
        <a:buClrTx/>
        <a:buSzPct val="123000"/>
        <a:buFont typeface="Arial" panose="020B0604020202020204"/>
        <a:buChar char="•"/>
        <a:defRPr sz="3600" b="0" i="0" u="none" strike="noStrike" cap="none" spc="300" baseline="0">
          <a:solidFill>
            <a:srgbClr val="595959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1"/>
          <p:cNvSpPr>
            <a:spLocks noGrp="1"/>
          </p:cNvSpPr>
          <p:nvPr/>
        </p:nvSpPr>
        <p:spPr>
          <a:xfrm>
            <a:off x="584029" y="1357715"/>
            <a:ext cx="20488951" cy="767080"/>
          </a:xfrm>
          <a:prstGeom prst="rect">
            <a:avLst/>
          </a:prstGeom>
        </p:spPr>
        <p:txBody>
          <a:bodyPr/>
          <a:lstStyle>
            <a:lvl1pPr marL="457200" marR="0" indent="-45720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●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71550" marR="0" indent="-51435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●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428750" marR="0" indent="-51435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●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959610" marR="0" indent="-58801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416810" marR="0" indent="-58801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3505200" marR="0" indent="-45720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23000"/>
              <a:buFont typeface="Arial" panose="020B0604020202020204"/>
              <a:buChar char="•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4114800" marR="0" indent="-45720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23000"/>
              <a:buFont typeface="Arial" panose="020B0604020202020204"/>
              <a:buChar char="•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4724400" marR="0" indent="-45720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23000"/>
              <a:buFont typeface="Arial" panose="020B0604020202020204"/>
              <a:buChar char="•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5334000" marR="0" indent="-457200" algn="l" defTabSz="1828800" rtl="0" latinLnBrk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Tx/>
              <a:buSzPct val="123000"/>
              <a:buFont typeface="Arial" panose="020B0604020202020204"/>
              <a:buChar char="•"/>
              <a:defRPr sz="3600" b="0" i="0" u="none" strike="noStrike" cap="none" spc="300" baseline="0">
                <a:solidFill>
                  <a:srgbClr val="595959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cs typeface="宋体" pitchFamily="2" charset="-122"/>
              </a:rPr>
              <a:t>算法</a:t>
            </a:r>
            <a:r>
              <a:rPr lang="zh-CN" altLang="en-US" sz="280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运行展示</a:t>
            </a:r>
            <a:r>
              <a:rPr lang="en-US" altLang="zh-CN" sz="280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(</a:t>
            </a:r>
            <a:r>
              <a:rPr lang="zh-CN" altLang="en-US" sz="280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区域</a:t>
            </a:r>
            <a:r>
              <a:rPr lang="en-US" altLang="zh-CN" sz="280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)</a:t>
            </a:r>
            <a:r>
              <a:rPr lang="zh-CN" altLang="en-US" sz="280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：</a:t>
            </a:r>
            <a:endParaRPr lang="zh-CN" altLang="en-US" sz="2800"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COMMONDATA" val="eyJoZGlkIjoiYjUxNmZkZDY4NThmMWJhZjcwYmMzYzlkMzk5OTQ1NDgifQ=="/>
  <p:tag name="commondata" val="eyJoZGlkIjoiZTkzMDBhMGI5YzVjZjlkZDM3MzhlYWI4YWFlMjY3NzQifQ=="/>
  <p:tag name="resource_record_key" val="{&quot;70&quot;:[3321482,3319356],&quot;8&quot;:[20476344,20476342]}"/>
</p:tagLst>
</file>

<file path=ppt/theme/theme1.xml><?xml version="1.0" encoding="utf-8"?>
<a:theme xmlns:a="http://schemas.openxmlformats.org/drawingml/2006/main" name="复盘PPT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" panose="020B0504020202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" panose="020B0504020202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lgerian"/>
        <a:ea typeface="Algerian"/>
        <a:cs typeface="Algerian"/>
      </a:majorFont>
      <a:minorFont>
        <a:latin typeface="Yu Gothic Medium"/>
        <a:ea typeface="Yu Gothic Medium"/>
        <a:cs typeface="Yu Gothic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" panose="020B0504020202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" panose="020B0504020202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Presentation</Application>
  <PresentationFormat>自定义</PresentationFormat>
  <Paragraphs>2</Paragraphs>
  <Slides>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Helvetica</vt:lpstr>
      <vt:lpstr>Liberation Sans</vt:lpstr>
      <vt:lpstr>Arial</vt:lpstr>
      <vt:lpstr>DejaVu Sans</vt:lpstr>
      <vt:lpstr>微软雅黑 Light</vt:lpstr>
      <vt:lpstr>Noto Sans CJK SC</vt:lpstr>
      <vt:lpstr>微软雅黑</vt:lpstr>
      <vt:lpstr>黑体</vt:lpstr>
      <vt:lpstr>Yu Gothic Medium</vt:lpstr>
      <vt:lpstr>Helvetica Neue</vt:lpstr>
      <vt:lpstr>Adwaita Sans</vt:lpstr>
      <vt:lpstr>Algerian</vt:lpstr>
      <vt:lpstr>宋体</vt:lpstr>
      <vt:lpstr>Arial Unicode MS</vt:lpstr>
      <vt:lpstr>微软雅黑</vt:lpstr>
      <vt:lpstr>Adwaita Mono</vt:lpstr>
      <vt:lpstr>复盘PPT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li</dc:creator>
  <cp:lastModifiedBy>p</cp:lastModifiedBy>
  <cp:revision>214</cp:revision>
  <dcterms:created xsi:type="dcterms:W3CDTF">2026-09-19T02:11:20Z</dcterms:created>
  <dcterms:modified xsi:type="dcterms:W3CDTF">2026-09-19T02:11:20Z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